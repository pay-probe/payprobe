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-2377440"/>
            <a:ext cx="6400800" cy="5486400"/>
          </a:xfrm>
          <a:prstGeom prst="ellipse">
            <a:avLst/>
          </a:prstGeom>
          <a:solidFill>
            <a:srgbClr val="5333E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5448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5333ED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pPr algn="l" indent="0" marL="0">
              <a:buNone/>
            </a:pPr>
            <a:r>
              <a:rPr lang="en-US" sz="1300" spc="100" kern="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Apache 2.0 licensed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4813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Pay</a:t>
            </a:r>
            <a:pPr algn="l" indent="0" marL="0">
              <a:buNone/>
            </a:pPr>
            <a:r>
              <a:rPr lang="en-US" sz="640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Probe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8869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regression-testing platform for payment terminal ecosystems — from the POS terminal, through the payment server, all the way to HSM, core banking, switch and acquirer.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2788920" cy="475488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434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concurrent connections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94760" y="4343400"/>
            <a:ext cx="1540764" cy="475488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4343400"/>
            <a:ext cx="15407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ops / sec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64124" y="4343400"/>
            <a:ext cx="2308860" cy="475488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4124" y="4343400"/>
            <a:ext cx="23088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execution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4343400"/>
            <a:ext cx="2596896" cy="475488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434340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test constructor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943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David Sakhelashvili  ·  github.com/pay-probe/payprobe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Payment stacks are deeply interconnected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one component can silently break another — and teams find out in production, not in a test report.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3063240"/>
            <a:ext cx="566928" cy="566928"/>
          </a:xfrm>
          <a:prstGeom prst="ellipse">
            <a:avLst/>
          </a:prstGeom>
          <a:solidFill>
            <a:srgbClr val="E0A82E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Silent regressions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2976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change to the switch breaks settlement two systems away. Nothing fails loudly.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27432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3063240"/>
            <a:ext cx="566928" cy="566928"/>
          </a:xfrm>
          <a:prstGeom prst="ellipse">
            <a:avLst/>
          </a:prstGeom>
          <a:solidFill>
            <a:srgbClr val="6EA0FF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#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Many moving parts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Terminal, payment server, HSM, core banking, switch, acquirer — each with its own protocol.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2440" y="27432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3063240"/>
            <a:ext cx="566928" cy="566928"/>
          </a:xfrm>
          <a:prstGeom prst="ellipse">
            <a:avLst/>
          </a:prstGeom>
          <a:solidFill>
            <a:srgbClr val="FB6A62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"Something failed"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42976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tell you a flow broke — not which component or integration pair regressed.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 exactly what regressed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 runs structured three-phase suites after every deployment and pinpoints the failing component or integration pair — with a baseline diff against a known-good snapshot.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236976"/>
            <a:ext cx="310896" cy="310896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B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→ integration → end-to-end  </a:t>
            </a:r>
            <a:pPr algn="l" indent="0" marL="0">
              <a:buNone/>
            </a:pPr>
            <a:r>
              <a:rPr lang="en-US" sz="14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gating that stops at the first break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4105656"/>
            <a:ext cx="310896" cy="310896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B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diffing  </a:t>
            </a:r>
            <a:pPr algn="l" indent="0" marL="0">
              <a:buNone/>
            </a:pPr>
            <a:r>
              <a:rPr lang="en-US" sz="14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run vs a pinned known-good snapshot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4974336"/>
            <a:ext cx="310896" cy="310896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B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4937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 </a:t>
            </a:r>
            <a:pPr algn="l" indent="0" marL="0">
              <a:buNone/>
            </a:pPr>
            <a:r>
              <a:rPr lang="en-US" sz="14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the whole platform with zero hardware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498080" y="214884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14171F"/>
          </a:solidFill>
          <a:ln w="15875">
            <a:solidFill>
              <a:srgbClr val="3A41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26680" y="22951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 Terminal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26680" y="2679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 sim · physical serial / TCP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58300" y="31181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A7"/>
                </a:solidFill>
              </a:rPr>
              <a:t>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98080" y="356616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5333ED"/>
          </a:solidFill>
          <a:ln w="15875">
            <a:solidFill>
              <a:srgbClr val="8A7BF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26680" y="371246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Payment Server  ·  RestPay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26680" y="4096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7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ISO 8583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58300" y="45354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A7"/>
                </a:solidFill>
              </a:rPr>
              <a:t>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8080" y="49834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14171F"/>
          </a:solidFill>
          <a:ln w="15875">
            <a:solidFill>
              <a:srgbClr val="3A41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26680" y="51297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HSM · Core Bank · Switch · Acquirer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26680" y="5513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PKCS#11 · SOAP · ISO 8583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transaction across the stack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22376" y="2048256"/>
            <a:ext cx="6693408" cy="3813048"/>
          </a:xfrm>
          <a:prstGeom prst="roundRect">
            <a:avLst>
              <a:gd name="adj" fmla="val 2398"/>
            </a:avLst>
          </a:prstGeom>
          <a:solidFill>
            <a:srgbClr val="05070B"/>
          </a:solidFill>
          <a:ln w="19050">
            <a:solidFill>
              <a:srgbClr val="5333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77240" y="2103120"/>
            <a:ext cx="658368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16168" y="539496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05070B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16168" y="5394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CLIP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266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you're watching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726680" y="2898648"/>
            <a:ext cx="146304" cy="146304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3" name="Text 10"/>
          <p:cNvSpPr/>
          <p:nvPr/>
        </p:nvSpPr>
        <p:spPr>
          <a:xfrm>
            <a:off x="7973568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hops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73568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→ payment server → HSM, core, switch, acquirer.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26680" y="3813048"/>
            <a:ext cx="146304" cy="146304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6" name="Text 13"/>
          <p:cNvSpPr/>
          <p:nvPr/>
        </p:nvSpPr>
        <p:spPr>
          <a:xfrm>
            <a:off x="7973568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message flow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973568" y="4069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 streamed and timed as the transaction runs.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26680" y="4727448"/>
            <a:ext cx="146304" cy="146304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9" name="Text 16"/>
          <p:cNvSpPr/>
          <p:nvPr/>
        </p:nvSpPr>
        <p:spPr>
          <a:xfrm>
            <a:off x="7973568" y="4709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regressions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973568" y="4983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 names the exact pair that broke — not just "failed".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2668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clip in slideshow mode to play.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Everything in one platform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331720"/>
            <a:ext cx="502920" cy="50292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Three-phase execution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51560" y="2971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health → integration pairs → full end-to-end flows, each gating the next.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331720"/>
            <a:ext cx="502920" cy="50292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Visual constructor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drag-and-drop workflow editor. Build scenarios with no code.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05740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2331720"/>
            <a:ext cx="502920" cy="50292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84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Baseline diffing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66760" y="2971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compared against a pinned known-good snapshot.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1605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51560" y="4434840"/>
            <a:ext cx="502920" cy="50292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Adapter framework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51560" y="50749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any payment system via a clean interface — about 2 hours per adapter.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434840" y="41605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4434840"/>
            <a:ext cx="502920" cy="50292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924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CI/CD ready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709160" y="50749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 output, REST trigger, Docker-native deployment.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92440" y="41605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66760" y="4434840"/>
            <a:ext cx="502920" cy="50292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▣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0684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Mock mode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366760" y="50749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platform locally with no payment hardware or secrets.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RUN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phases, gated end to end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33272" y="2377440"/>
            <a:ext cx="548640" cy="54864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Component health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737360" y="26700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each system in isolation.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33272" y="3657600"/>
            <a:ext cx="548640" cy="54864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584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Integration pairs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verified in turn.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66344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33272" y="4937760"/>
            <a:ext cx="548640" cy="54864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4864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End-to-end flows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737360" y="5230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reversal, settlement, clearing.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94376" y="2048256"/>
            <a:ext cx="6144768" cy="3630168"/>
          </a:xfrm>
          <a:prstGeom prst="roundRect">
            <a:avLst>
              <a:gd name="adj" fmla="val 2519"/>
            </a:avLst>
          </a:prstGeom>
          <a:solidFill>
            <a:srgbClr val="05070B"/>
          </a:solidFill>
          <a:ln w="19050">
            <a:solidFill>
              <a:srgbClr val="5333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349240" y="2103120"/>
            <a:ext cx="6035040" cy="352044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9939528" y="521208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05070B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39528" y="5212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CLIP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349240" y="5715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the first break — so you know exactly where it failed.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AUTHORING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Visual test constructor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drag-and-drop canvas for assembling flows — steps, edges and assertions — with an AI assistant that turns plain English into a runnable scenario.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29184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Ask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3192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JSON &amp; YAML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5720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572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flows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52120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212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 inspector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4983480" cy="3703320"/>
          </a:xfrm>
          <a:prstGeom prst="roundRect">
            <a:avLst>
              <a:gd name="adj" fmla="val 2469"/>
            </a:avLst>
          </a:prstGeom>
          <a:solidFill>
            <a:srgbClr val="05070B"/>
          </a:solidFill>
          <a:ln w="15875">
            <a:solidFill>
              <a:srgbClr val="5333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35340" y="3497580"/>
            <a:ext cx="914400" cy="914400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18" name="Text 16"/>
          <p:cNvSpPr/>
          <p:nvPr/>
        </p:nvSpPr>
        <p:spPr>
          <a:xfrm>
            <a:off x="8435340" y="34975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▶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65392" y="226771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5070B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PLACEHOLDER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0" y="58978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placeholder — record building a scenario on the canvas + "✦ Ask AI" generating a flow.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Speaks every protocol in the stack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stable adapters for common payment components. Adding a new one takes about two hours.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33272" y="3140964"/>
            <a:ext cx="164592" cy="16459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0" name="Text 8"/>
          <p:cNvSpPr/>
          <p:nvPr/>
        </p:nvSpPr>
        <p:spPr>
          <a:xfrm>
            <a:off x="1344168" y="2889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44168" y="3236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HTTPS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274320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3140964"/>
            <a:ext cx="164592" cy="16459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4" name="Text 12"/>
          <p:cNvSpPr/>
          <p:nvPr/>
        </p:nvSpPr>
        <p:spPr>
          <a:xfrm>
            <a:off x="5001768" y="2889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01768" y="3236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PKCS#11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274320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8472" y="3140964"/>
            <a:ext cx="164592" cy="16459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18" name="Text 16"/>
          <p:cNvSpPr/>
          <p:nvPr/>
        </p:nvSpPr>
        <p:spPr>
          <a:xfrm>
            <a:off x="8659368" y="2889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terminal_sim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59368" y="3236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388620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33272" y="4283964"/>
            <a:ext cx="164592" cy="16459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22" name="Text 20"/>
          <p:cNvSpPr/>
          <p:nvPr/>
        </p:nvSpPr>
        <p:spPr>
          <a:xfrm>
            <a:off x="1344168" y="4032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terminal_physical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44168" y="4379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/ TCP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388620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4283964"/>
            <a:ext cx="164592" cy="16459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4032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core_banking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01768" y="4379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SOAP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388620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48472" y="4283964"/>
            <a:ext cx="164592" cy="16459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30" name="Text 28"/>
          <p:cNvSpPr/>
          <p:nvPr/>
        </p:nvSpPr>
        <p:spPr>
          <a:xfrm>
            <a:off x="8659368" y="4032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59368" y="4379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" y="502920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33272" y="5426964"/>
            <a:ext cx="164592" cy="16459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34" name="Text 32"/>
          <p:cNvSpPr/>
          <p:nvPr/>
        </p:nvSpPr>
        <p:spPr>
          <a:xfrm>
            <a:off x="1344168" y="5175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acquirer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44168" y="5522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 / REST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434840" y="502920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90872" y="5426964"/>
            <a:ext cx="164592" cy="16459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38" name="Text 36"/>
          <p:cNvSpPr/>
          <p:nvPr/>
        </p:nvSpPr>
        <p:spPr>
          <a:xfrm>
            <a:off x="5001768" y="5175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db_probe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01768" y="5522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/ Oracle / MSSQL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92440" y="502920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48472" y="5426964"/>
            <a:ext cx="164592" cy="164592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42" name="Text 40"/>
          <p:cNvSpPr/>
          <p:nvPr/>
        </p:nvSpPr>
        <p:spPr>
          <a:xfrm>
            <a:off x="8659368" y="5175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E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mock_*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59368" y="55229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· all systems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Realistic host &amp; scheme simulators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other side of the wire — no third-party sandbox required.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2542032" cy="2834640"/>
          </a:xfrm>
          <a:prstGeom prst="roundRect">
            <a:avLst>
              <a:gd name="adj" fmla="val 4317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017520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5333E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0175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VISA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 auth, reversal, network-mgmt, clearing — opt-in CVV2 / PVV / ARQC.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47288" y="2743200"/>
            <a:ext cx="2542032" cy="2834640"/>
          </a:xfrm>
          <a:prstGeom prst="roundRect">
            <a:avLst>
              <a:gd name="adj" fmla="val 4317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21608" y="3017520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5333ED"/>
          </a:solidFill>
          <a:ln/>
        </p:spPr>
      </p:sp>
      <p:sp>
        <p:nvSpPr>
          <p:cNvPr id="14" name="Text 12"/>
          <p:cNvSpPr/>
          <p:nvPr/>
        </p:nvSpPr>
        <p:spPr>
          <a:xfrm>
            <a:off x="3721608" y="30175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CyberSource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21608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gateway sim — auth, capture, refund, reversal, void with a decision ladder.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17336" y="2743200"/>
            <a:ext cx="2542032" cy="2834640"/>
          </a:xfrm>
          <a:prstGeom prst="roundRect">
            <a:avLst>
              <a:gd name="adj" fmla="val 4317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91656" y="3017520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5333ED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30175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payShield 10K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91656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host-command sim with hybrid real crypto under a test LMK.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87384" y="2743200"/>
            <a:ext cx="2542032" cy="2834640"/>
          </a:xfrm>
          <a:prstGeom prst="roundRect">
            <a:avLst>
              <a:gd name="adj" fmla="val 4317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61704" y="3017520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5333ED"/>
          </a:solidFill>
          <a:ln/>
        </p:spPr>
      </p:sp>
      <p:sp>
        <p:nvSpPr>
          <p:cNvPr id="22" name="Text 20"/>
          <p:cNvSpPr/>
          <p:nvPr/>
        </p:nvSpPr>
        <p:spPr>
          <a:xfrm>
            <a:off x="9061704" y="30175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Dialect-aware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61704" y="3794760"/>
            <a:ext cx="1993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 message format; the responder validates inbound ISO 8583 (warn / reject).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for production-grade load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async worker engine on Python asyncio + uvloop, coordinated across Redis-backed workers for distributed load and stress testing.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33558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connections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26974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94560" y="33558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/ second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33558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profiles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26974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∞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0" y="33558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workers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276856"/>
            <a:ext cx="5367528" cy="3858768"/>
          </a:xfrm>
          <a:prstGeom prst="roundRect">
            <a:avLst>
              <a:gd name="adj" fmla="val 2370"/>
            </a:avLst>
          </a:prstGeom>
          <a:solidFill>
            <a:srgbClr val="05070B"/>
          </a:solidFill>
          <a:ln w="19050">
            <a:solidFill>
              <a:srgbClr val="5333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0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126480" y="2331720"/>
            <a:ext cx="5257800" cy="37490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939528" y="566928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05070B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39528" y="5669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D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CLIP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7724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Profiles: ramp · spike · soak · steady  —  hot re-tune mid-run, backpressure &amp; saturation visibility.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Clean, service-oriented design</a:t>
            </a:r>
            <a:endParaRPr lang="en-US" sz="3400" dirty="0"/>
          </a:p>
        </p:txBody>
      </p:sp>
      <p:pic>
        <p:nvPicPr>
          <p:cNvPr id="7" name="Image 0" descr="/sessions/jolly-clever-archimedes/mnt/payprobe/presentation/assets/diagram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691640"/>
            <a:ext cx="8595360" cy="48348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data &amp; secrets, handled right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313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Data Manager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pools, BIN ranges, terminal pools, key registry. Generate Luhn-valid PANs from a BIN.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05740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313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Secrets vault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09160" y="2834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inventory across connections, variables &amp; keys — encrypted at rest, never revealed.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205740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2313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Environments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environment registry with per-environment connection overrides.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1605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416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Trends &amp; flakiness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51560" y="49377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Per-scenario flaky detection and run-trend history to spot intermittent failures.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41605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4416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Packs &amp; certification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709160" y="49377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test-case packs and a compliance certification report with an HTML badge.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92440" y="41605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66760" y="4416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Trace viewer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366760" y="49377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Wire-level raw logs + structured engine trace with a per-step timing waterfall.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Drops into CI/CD on day one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run on every deploy; gate the pipeline on the result.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2542032" cy="2468880"/>
          </a:xfrm>
          <a:prstGeom prst="roundRect">
            <a:avLst>
              <a:gd name="adj" fmla="val 444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017520"/>
            <a:ext cx="548640" cy="54864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30358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Deploy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374904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CI ships a build to a test environment.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73552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A7"/>
                </a:solidFill>
              </a:rPr>
              <a:t>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47288" y="2743200"/>
            <a:ext cx="2542032" cy="2468880"/>
          </a:xfrm>
          <a:prstGeom prst="roundRect">
            <a:avLst>
              <a:gd name="adj" fmla="val 444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3017520"/>
            <a:ext cx="548640" cy="54864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07408" y="30358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Trigger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21608" y="374904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call kicks off the three-phase suite.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A7"/>
                </a:solidFill>
              </a:rPr>
              <a:t>➜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17336" y="2743200"/>
            <a:ext cx="2542032" cy="2468880"/>
          </a:xfrm>
          <a:prstGeom prst="roundRect">
            <a:avLst>
              <a:gd name="adj" fmla="val 444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91656" y="3017520"/>
            <a:ext cx="548640" cy="54864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77456" y="30358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Diff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91656" y="374904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compared against the pinned baseline.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1364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A7"/>
                </a:solidFill>
              </a:rPr>
              <a:t>➜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787384" y="2743200"/>
            <a:ext cx="2542032" cy="2468880"/>
          </a:xfrm>
          <a:prstGeom prst="roundRect">
            <a:avLst>
              <a:gd name="adj" fmla="val 4444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61704" y="3017520"/>
            <a:ext cx="548640" cy="54864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61704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47504" y="303580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Gate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061704" y="374904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 feeds the dashboard; pipeline passes or fails.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" y="5577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77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Docker-native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560320" y="55778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5577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977640" y="55778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5577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trigger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669280" y="55778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5577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report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for the people who ship payments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3017520"/>
            <a:ext cx="640080" cy="64008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840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Issuers &amp; acquirers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4389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full stack before every release without a lab full of hardware.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34840" y="26517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3017520"/>
            <a:ext cx="640080" cy="64008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Payment platform teams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0" y="4389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cross-component regressions the moment they're introduced.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92440" y="26517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171F"/>
          </a:solidFill>
          <a:ln w="12700">
            <a:solidFill>
              <a:srgbClr val="272C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3017520"/>
            <a:ext cx="640080" cy="640080"/>
          </a:xfrm>
          <a:prstGeom prst="ellipse">
            <a:avLst/>
          </a:prstGeom>
          <a:solidFill>
            <a:srgbClr val="5333ED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840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QA &amp; certification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43891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packs and certification reports for repeatable, auditable testing.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End-to-end demo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10607040" cy="3657600"/>
          </a:xfrm>
          <a:prstGeom prst="roundRect">
            <a:avLst>
              <a:gd name="adj" fmla="val 2500"/>
            </a:avLst>
          </a:prstGeom>
          <a:solidFill>
            <a:srgbClr val="05070B"/>
          </a:solidFill>
          <a:ln w="15875">
            <a:solidFill>
              <a:srgbClr val="5333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3520440"/>
            <a:ext cx="914400" cy="914400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9" name="Text 7"/>
          <p:cNvSpPr/>
          <p:nvPr/>
        </p:nvSpPr>
        <p:spPr>
          <a:xfrm>
            <a:off x="5623560" y="3520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▶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41832" y="231343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05070B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313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PLACEHOLDER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for your longer demo video — author a scenario, run it across simulators, read the report.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32720" y="6400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5333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5029200" cy="4114800"/>
          </a:xfrm>
          <a:prstGeom prst="ellipse">
            <a:avLst/>
          </a:prstGeom>
          <a:solidFill>
            <a:srgbClr val="2DD4A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2560320"/>
            <a:ext cx="6858000" cy="5943600"/>
          </a:xfrm>
          <a:prstGeom prst="ellipse">
            <a:avLst/>
          </a:prstGeom>
          <a:solidFill>
            <a:srgbClr val="5333E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5333ED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" y="13533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EF1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the whole platform
</a:t>
            </a:r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8A7B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one command.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by default — no hardware, no secrets, no toolchain. Clone, docker compose up, open the portal, start a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5029200"/>
            <a:ext cx="2478024" cy="475488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029200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open source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83864" y="5029200"/>
            <a:ext cx="3150108" cy="475488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5029200"/>
            <a:ext cx="31501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github.com/pay-probe/payprobe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62572" y="5029200"/>
            <a:ext cx="2766060" cy="475488"/>
          </a:xfrm>
          <a:prstGeom prst="roundRect">
            <a:avLst>
              <a:gd name="adj" fmla="val 50000"/>
            </a:avLst>
          </a:prstGeom>
          <a:solidFill>
            <a:srgbClr val="1B1F29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5029200"/>
            <a:ext cx="2766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· Docs · Roadmap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PayProbe — created by David Sakhelashvili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PayProbe — Platform Presentation</dc:title>
  <dc:subject>PptxGenJS Presentation</dc:subject>
  <dc:creator>David Sakhelashvili</dc:creator>
  <cp:lastModifiedBy>David Sakhelashvili</cp:lastModifiedBy>
  <cp:revision>1</cp:revision>
  <dcterms:created xsi:type="dcterms:W3CDTF">2026-06-26T05:23:41Z</dcterms:created>
  <dcterms:modified xsi:type="dcterms:W3CDTF">2026-06-26T05:23:41Z</dcterms:modified>
</cp:coreProperties>
</file>